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c5c6c9c16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c5c6c9c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252fd09f_0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252fd09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252fd09f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c252fd0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252fd09f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252fd09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252fd09f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252fd0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c252fd09f_0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c252fd0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c252fd09f_0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c252fd09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c252fd09f_0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c252fd09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c252fd09f_0_1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c252fd09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c252fd09f_0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c252fd09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6150"/>
            <a:ext cx="8520600" cy="15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Super Resolution via Convolutional Neural Network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697350"/>
            <a:ext cx="85206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Mahendra Kausik Vankadara - PES1UG23AM163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Balasa Chenchu Purandar Puneet - PES1UG23AM906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AIML “C”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075" y="2877600"/>
            <a:ext cx="4309849" cy="21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Introduction:</a:t>
            </a:r>
            <a:endParaRPr b="1" u="sng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17725"/>
            <a:ext cx="8520600" cy="3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Low-resolution images often lack critical visual details, which can limit their utility in domains such as medical imaging, remote sensing, surveillance, and multimedia applications.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Employ the Super-Resolution Convolutional Neural Network (SRCNN) to reconstruct high-resolution images from low-resolution inputs, thereby enhancing image quality and preserving important features.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4876"/>
            <a:ext cx="9143999" cy="21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Dataset:</a:t>
            </a:r>
            <a:endParaRPr b="1" u="sng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38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Training Dataset (</a:t>
            </a:r>
            <a:r>
              <a:rPr lang="en" sz="18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91-image.h5</a:t>
            </a:r>
            <a:r>
              <a:rPr lang="en" sz="1800" u="sng">
                <a:solidFill>
                  <a:schemeClr val="dk1"/>
                </a:solidFill>
              </a:rPr>
              <a:t>):</a:t>
            </a:r>
            <a:r>
              <a:rPr lang="en" sz="1800">
                <a:solidFill>
                  <a:schemeClr val="dk1"/>
                </a:solidFill>
              </a:rPr>
              <a:t> A collection of 91 high-quality images, preprocessed into smaller patches to train the SRCNN model for super-resolution tasks. It provides diverse textures and structures to improve model generalization.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Evaluation Dataset (</a:t>
            </a:r>
            <a:r>
              <a:rPr lang="en" sz="18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Set5.h5</a:t>
            </a:r>
            <a:r>
              <a:rPr lang="en" sz="1800" u="sng">
                <a:solidFill>
                  <a:schemeClr val="dk1"/>
                </a:solidFill>
              </a:rPr>
              <a:t>):</a:t>
            </a:r>
            <a:r>
              <a:rPr lang="en" sz="1800">
                <a:solidFill>
                  <a:schemeClr val="dk1"/>
                </a:solidFill>
              </a:rPr>
              <a:t> A benchmark dataset consisting of 5 widely used images to evaluate super-resolution performance. It allows quantitative assessment using metrics like PSNR and SSIM.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Model Architecture:</a:t>
            </a:r>
            <a:endParaRPr b="1" sz="2500" u="sng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066375"/>
            <a:ext cx="86316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Input:</a:t>
            </a:r>
            <a:r>
              <a:rPr lang="en" sz="1400">
                <a:solidFill>
                  <a:schemeClr val="dk1"/>
                </a:solidFill>
              </a:rPr>
              <a:t> Low Resolution Image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Layer 1(Feature Extraction):</a:t>
            </a:r>
            <a:endParaRPr sz="1400" u="sng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Convolution layer with 9×9 kernel, 1→64 channels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Applies ReLU activation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Extracts overlapping image patches and converts them into high-dimensional features.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Layer 2 (Non-linear Mapping):</a:t>
            </a:r>
            <a:endParaRPr sz="1400" u="sng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Convolution layer with 5×5 kernel, 64→32 channels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Applies ReLU activation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Learns complex non-linear relationships between low- and high-resolution representations.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Layer 3 (Reconstruction):</a:t>
            </a:r>
            <a:endParaRPr sz="1400" u="sng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Convolution layer with 5×5 kernel, 32→1 channels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No activation function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Reconstructs the final high-resolution image.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Output:</a:t>
            </a:r>
            <a:r>
              <a:rPr lang="en" sz="1400">
                <a:solidFill>
                  <a:schemeClr val="dk1"/>
                </a:solidFill>
              </a:rPr>
              <a:t> Enhanced high-resolution image.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Training &amp; Experiments:</a:t>
            </a:r>
            <a:endParaRPr b="1" sz="2500" u="sng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13325"/>
            <a:ext cx="8631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Scale Factors and Learning Rates: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Scale = 3 → Learning rates = 1e-3, 1e-4, 1e-5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Scale = 2 → Learning rate = 1e-4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Scale = 4 → Learning rate = 1e-4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Batch Size:</a:t>
            </a:r>
            <a:r>
              <a:rPr lang="en" sz="1800">
                <a:solidFill>
                  <a:schemeClr val="dk1"/>
                </a:solidFill>
              </a:rPr>
              <a:t> 16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Epochs:</a:t>
            </a:r>
            <a:r>
              <a:rPr lang="en" sz="1800">
                <a:solidFill>
                  <a:schemeClr val="dk1"/>
                </a:solidFill>
              </a:rPr>
              <a:t> 100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Loss Function:</a:t>
            </a:r>
            <a:r>
              <a:rPr lang="en" sz="1800">
                <a:solidFill>
                  <a:schemeClr val="dk1"/>
                </a:solidFill>
              </a:rPr>
              <a:t> Mean Squared Error (MSE)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Evaluation Metric:</a:t>
            </a:r>
            <a:r>
              <a:rPr lang="en" sz="1800">
                <a:solidFill>
                  <a:schemeClr val="dk1"/>
                </a:solidFill>
              </a:rPr>
              <a:t> Validation PSNR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i="1" lang="en" sz="1100">
                <a:solidFill>
                  <a:schemeClr val="dk1"/>
                </a:solidFill>
              </a:rPr>
            </a:br>
            <a:r>
              <a:rPr i="1" lang="en" sz="1900">
                <a:solidFill>
                  <a:schemeClr val="dk1"/>
                </a:solidFill>
              </a:rPr>
              <a:t>These experiments investigate how different scales and learning rates influence the network’s validation performance.</a:t>
            </a:r>
            <a:endParaRPr i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Quantitative Results:</a:t>
            </a:r>
            <a:endParaRPr b="1" sz="2500" u="sng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13325"/>
            <a:ext cx="8631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25" y="1213325"/>
            <a:ext cx="8682576" cy="375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Validation PSNR vs Epochs</a:t>
            </a:r>
            <a:r>
              <a:rPr b="1" lang="en" sz="2500" u="sng"/>
              <a:t>:</a:t>
            </a:r>
            <a:endParaRPr b="1" sz="2500" u="sng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213325"/>
            <a:ext cx="8631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4050"/>
            <a:ext cx="8631602" cy="39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0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Impact of the Upscaling Factor (Scale) is Significant:</a:t>
            </a:r>
            <a:endParaRPr b="1" u="sng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932100"/>
            <a:ext cx="8631600" cy="4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This is the most dominant factor in the results. There is an inverse relationship between the upscaling factor and the final image quality (PSNR).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Observation:</a:t>
            </a:r>
            <a:r>
              <a:rPr lang="en" sz="1800">
                <a:solidFill>
                  <a:schemeClr val="dk1"/>
                </a:solidFill>
              </a:rPr>
              <a:t> The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x2</a:t>
            </a:r>
            <a:r>
              <a:rPr lang="en" sz="1800">
                <a:solidFill>
                  <a:schemeClr val="dk1"/>
                </a:solidFill>
              </a:rPr>
              <a:t> model achieves a much higher PSNR (36.48 dB) than the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x3</a:t>
            </a:r>
            <a:r>
              <a:rPr lang="en" sz="1800">
                <a:solidFill>
                  <a:schemeClr val="dk1"/>
                </a:solidFill>
              </a:rPr>
              <a:t> models (~33.1 dB) and the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x4</a:t>
            </a:r>
            <a:r>
              <a:rPr lang="en" sz="1800">
                <a:solidFill>
                  <a:schemeClr val="dk1"/>
                </a:solidFill>
              </a:rPr>
              <a:t> model (30.15 dB).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Reasoning:</a:t>
            </a:r>
            <a:r>
              <a:rPr lang="en" sz="1800">
                <a:solidFill>
                  <a:schemeClr val="dk1"/>
                </a:solidFill>
              </a:rPr>
              <a:t> This is expected behavior. Super-resolution becomes a progressively harder task as the scale increases. An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x4</a:t>
            </a:r>
            <a:r>
              <a:rPr lang="en" sz="1800">
                <a:solidFill>
                  <a:schemeClr val="dk1"/>
                </a:solidFill>
              </a:rPr>
              <a:t> model has to generate 16 pixels from a single input pixel, while an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x2</a:t>
            </a:r>
            <a:r>
              <a:rPr lang="en" sz="1800">
                <a:solidFill>
                  <a:schemeClr val="dk1"/>
                </a:solidFill>
              </a:rPr>
              <a:t> model only needs to generate 4. This increased complexity naturally leads to lower reconstruction accuracy.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Evidence:</a:t>
            </a:r>
            <a:r>
              <a:rPr lang="en" sz="1800">
                <a:solidFill>
                  <a:schemeClr val="dk1"/>
                </a:solidFill>
              </a:rPr>
              <a:t> The graph clearly shows three distinct performance tiers, with the purple line (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x2</a:t>
            </a:r>
            <a:r>
              <a:rPr lang="en" sz="1800">
                <a:solidFill>
                  <a:schemeClr val="dk1"/>
                </a:solidFill>
              </a:rPr>
              <a:t>) on top, the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x3</a:t>
            </a:r>
            <a:r>
              <a:rPr lang="en" sz="1800">
                <a:solidFill>
                  <a:schemeClr val="dk1"/>
                </a:solidFill>
              </a:rPr>
              <a:t> models clustered in the middle, and the orange line (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x4</a:t>
            </a:r>
            <a:r>
              <a:rPr lang="en" sz="1800">
                <a:solidFill>
                  <a:schemeClr val="dk1"/>
                </a:solidFill>
              </a:rPr>
              <a:t>) at the bottom.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0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Choosing the Right Learning Rate is Crucial:</a:t>
            </a:r>
            <a:endParaRPr b="1" u="sng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932100"/>
            <a:ext cx="8631600" cy="4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By comparing the three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x3</a:t>
            </a:r>
            <a:r>
              <a:rPr lang="en" sz="1800">
                <a:solidFill>
                  <a:schemeClr val="dk1"/>
                </a:solidFill>
              </a:rPr>
              <a:t> models, we can see the effect of the learning rate.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Observation:</a:t>
            </a:r>
            <a:r>
              <a:rPr lang="en" sz="1800">
                <a:solidFill>
                  <a:schemeClr val="dk1"/>
                </a:solidFill>
              </a:rPr>
              <a:t> A learning rate of </a:t>
            </a:r>
            <a:r>
              <a:rPr lang="en" sz="1800">
                <a:solidFill>
                  <a:schemeClr val="dk1"/>
                </a:solidFill>
              </a:rPr>
              <a:t>10</a:t>
            </a:r>
            <a:r>
              <a:rPr baseline="30000" lang="en" sz="1800">
                <a:solidFill>
                  <a:schemeClr val="dk1"/>
                </a:solidFill>
              </a:rPr>
              <a:t>-5</a:t>
            </a:r>
            <a:r>
              <a:rPr lang="en" sz="1800">
                <a:solidFill>
                  <a:schemeClr val="dk1"/>
                </a:solidFill>
              </a:rPr>
              <a:t> is too low. It learns significantly slower than the others (the green line on the graph rises more gradually) and converges to a lower overall PSNR (32.74 dB).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Observation:</a:t>
            </a:r>
            <a:r>
              <a:rPr lang="en" sz="1800">
                <a:solidFill>
                  <a:schemeClr val="dk1"/>
                </a:solidFill>
              </a:rPr>
              <a:t> The learning rates of 10</a:t>
            </a:r>
            <a:r>
              <a:rPr baseline="30000" lang="en" sz="1800">
                <a:solidFill>
                  <a:schemeClr val="dk1"/>
                </a:solidFill>
              </a:rPr>
              <a:t>-3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>
                <a:solidFill>
                  <a:schemeClr val="dk1"/>
                </a:solidFill>
              </a:rPr>
              <a:t>10</a:t>
            </a:r>
            <a:r>
              <a:rPr baseline="30000" lang="en" sz="1800">
                <a:solidFill>
                  <a:schemeClr val="dk1"/>
                </a:solidFill>
              </a:rPr>
              <a:t>-4</a:t>
            </a:r>
            <a:r>
              <a:rPr lang="en" sz="1800">
                <a:solidFill>
                  <a:schemeClr val="dk1"/>
                </a:solidFill>
              </a:rPr>
              <a:t> produce very similar, near-optimal results. The 1</a:t>
            </a:r>
            <a:r>
              <a:rPr lang="en" sz="1800">
                <a:solidFill>
                  <a:schemeClr val="dk1"/>
                </a:solidFill>
              </a:rPr>
              <a:t>0</a:t>
            </a:r>
            <a:r>
              <a:rPr baseline="30000" lang="en" sz="1800">
                <a:solidFill>
                  <a:schemeClr val="dk1"/>
                </a:solidFill>
              </a:rPr>
              <a:t>-3</a:t>
            </a:r>
            <a:r>
              <a:rPr lang="en" sz="1800">
                <a:solidFill>
                  <a:schemeClr val="dk1"/>
                </a:solidFill>
              </a:rPr>
              <a:t> model achieves a slightly higher peak PSNR (33.16 dB vs 33.13 dB), but they are statistically very close.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Conclusion:</a:t>
            </a:r>
            <a:r>
              <a:rPr lang="en" sz="1800">
                <a:solidFill>
                  <a:schemeClr val="dk1"/>
                </a:solidFill>
              </a:rPr>
              <a:t> For the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x3</a:t>
            </a:r>
            <a:r>
              <a:rPr lang="en" sz="1800">
                <a:solidFill>
                  <a:schemeClr val="dk1"/>
                </a:solidFill>
              </a:rPr>
              <a:t> model, a learning rate of 1</a:t>
            </a:r>
            <a:r>
              <a:rPr lang="en" sz="1800">
                <a:solidFill>
                  <a:schemeClr val="dk1"/>
                </a:solidFill>
              </a:rPr>
              <a:t>0</a:t>
            </a:r>
            <a:r>
              <a:rPr baseline="30000" lang="en" sz="1800">
                <a:solidFill>
                  <a:schemeClr val="dk1"/>
                </a:solidFill>
              </a:rPr>
              <a:t>-4</a:t>
            </a:r>
            <a:r>
              <a:rPr lang="en" sz="1800">
                <a:solidFill>
                  <a:schemeClr val="dk1"/>
                </a:solidFill>
              </a:rPr>
              <a:t> appears to be a very good choice, offering a great balance of fast convergence and high performance. While 1</a:t>
            </a:r>
            <a:r>
              <a:rPr lang="en" sz="1800">
                <a:solidFill>
                  <a:schemeClr val="dk1"/>
                </a:solidFill>
              </a:rPr>
              <a:t>0</a:t>
            </a:r>
            <a:r>
              <a:rPr baseline="30000" lang="en" sz="1800">
                <a:solidFill>
                  <a:schemeClr val="dk1"/>
                </a:solidFill>
              </a:rPr>
              <a:t>-3</a:t>
            </a:r>
            <a:r>
              <a:rPr lang="en" sz="1800">
                <a:solidFill>
                  <a:schemeClr val="dk1"/>
                </a:solidFill>
              </a:rPr>
              <a:t> was marginally better here, a slightly lower rate like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800">
                <a:solidFill>
                  <a:schemeClr val="dk1"/>
                </a:solidFill>
              </a:rPr>
              <a:t>0</a:t>
            </a:r>
            <a:r>
              <a:rPr baseline="30000" lang="en" sz="1800">
                <a:solidFill>
                  <a:schemeClr val="dk1"/>
                </a:solidFill>
              </a:rPr>
              <a:t>-4</a:t>
            </a:r>
            <a:r>
              <a:rPr lang="en" sz="1800">
                <a:solidFill>
                  <a:schemeClr val="dk1"/>
                </a:solidFill>
              </a:rPr>
              <a:t> is often considered "safer" and more stable.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0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Loss Correlates with PSNR:</a:t>
            </a:r>
            <a:endParaRPr b="1" u="sng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932100"/>
            <a:ext cx="8631600" cy="4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Observation:</a:t>
            </a:r>
            <a:r>
              <a:rPr lang="en" sz="1800">
                <a:solidFill>
                  <a:schemeClr val="dk1"/>
                </a:solidFill>
              </a:rPr>
              <a:t> The "Final Loss" values in the table align with the PSNR results. The model with the highest PSNR (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x2</a:t>
            </a:r>
            <a:r>
              <a:rPr lang="en" sz="1800">
                <a:solidFill>
                  <a:schemeClr val="dk1"/>
                </a:solidFill>
              </a:rPr>
              <a:t>) has the lowest loss (0.00054), while the model with the lowest PSNR (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x4</a:t>
            </a:r>
            <a:r>
              <a:rPr lang="en" sz="1800">
                <a:solidFill>
                  <a:schemeClr val="dk1"/>
                </a:solidFill>
              </a:rPr>
              <a:t>) has the highest loss (0.00183).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Reasoning:</a:t>
            </a:r>
            <a:r>
              <a:rPr lang="en" sz="1800">
                <a:solidFill>
                  <a:schemeClr val="dk1"/>
                </a:solidFill>
              </a:rPr>
              <a:t> This confirms that the loss function was a good indicator of model performance, as minimizing the loss successfully maximized the image quality metric (PSNR).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Results:</a:t>
            </a:r>
            <a:endParaRPr b="1" sz="2500" u="sng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8775"/>
            <a:ext cx="8839202" cy="292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Results</a:t>
            </a:r>
            <a:r>
              <a:rPr b="1" lang="en" sz="2500" u="sng"/>
              <a:t>:</a:t>
            </a:r>
            <a:endParaRPr b="1" sz="2500" u="sng"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066375"/>
            <a:ext cx="9144000" cy="36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/>
              <a:t>Results:</a:t>
            </a:r>
            <a:endParaRPr b="1" sz="2500" u="sng"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00" y="1488200"/>
            <a:ext cx="8839201" cy="206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41850" y="558000"/>
            <a:ext cx="8460300" cy="36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Thank You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